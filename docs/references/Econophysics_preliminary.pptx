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3"/>
    <p:sldId id="257" r:id="rId4"/>
    <p:sldId id="263" r:id="rId5"/>
    <p:sldId id="262" r:id="rId6"/>
    <p:sldId id="261" r:id="rId7"/>
    <p:sldId id="260" r:id="rId8"/>
    <p:sldId id="259" r:id="rId9"/>
    <p:sldId id="274" r:id="rId10"/>
    <p:sldId id="277" r:id="rId11"/>
    <p:sldId id="276" r:id="rId12"/>
    <p:sldId id="258" r:id="rId13"/>
    <p:sldId id="265" r:id="rId14"/>
    <p:sldId id="272" r:id="rId15"/>
    <p:sldId id="266" r:id="rId16"/>
    <p:sldId id="267" r:id="rId17"/>
    <p:sldId id="268" r:id="rId18"/>
    <p:sldId id="269" r:id="rId19"/>
    <p:sldId id="271" r:id="rId20"/>
    <p:sldId id="275" r:id="rId21"/>
    <p:sldId id="27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1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1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1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2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6.xml"/><Relationship Id="rId4" Type="http://schemas.openxmlformats.org/officeDocument/2006/relationships/image" Target="../media/image13.png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4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7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0.xml"/><Relationship Id="rId3" Type="http://schemas.openxmlformats.org/officeDocument/2006/relationships/image" Target="../media/image25.png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 sz="3600"/>
              <a:t>Econophysics: How have tools developed by physicists revealed about Economics</a:t>
            </a:r>
            <a:endParaRPr lang="en-US" altLang="en-US" sz="36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/>
              <a:t>Angela Zu</a:t>
            </a:r>
            <a:endParaRPr lang="en-US" altLang="zh-CN"/>
          </a:p>
          <a:p>
            <a:r>
              <a:rPr lang="en-US" altLang="zh-CN"/>
              <a:t>10/02/2026</a:t>
            </a:r>
            <a:endParaRPr lang="en-US" altLang="zh-CN"/>
          </a:p>
          <a:p>
            <a:r>
              <a:rPr lang="en-US" altLang="zh-CN"/>
              <a:t>For Second year’s talk, St Catherine’s College, Oxford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Questions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How is wealth distributed? </a:t>
            </a:r>
            <a:endParaRPr lang="en-US"/>
          </a:p>
          <a:p>
            <a:r>
              <a:rPr lang="en-US" altLang="en-US"/>
              <a:t>What Distributions Reveal About Economic Dynamics?</a:t>
            </a:r>
            <a:endParaRPr lang="en-US" altLang="en-US"/>
          </a:p>
          <a:p>
            <a:r>
              <a:rPr lang="en-US"/>
              <a:t>Why is the </a:t>
            </a:r>
            <a:r>
              <a:rPr lang="en-US">
                <a:highlight>
                  <a:srgbClr val="FFFF00"/>
                </a:highlight>
              </a:rPr>
              <a:t>Markov assumptions</a:t>
            </a:r>
            <a:r>
              <a:rPr lang="en-US"/>
              <a:t> invalid in stock market?</a:t>
            </a:r>
            <a:endParaRPr lang="en-US"/>
          </a:p>
          <a:p>
            <a:r>
              <a:rPr lang="en-US"/>
              <a:t>How to apply </a:t>
            </a:r>
            <a:r>
              <a:rPr lang="en-US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</a:rPr>
              <a:t>dimensional analysis</a:t>
            </a:r>
            <a:r>
              <a:rPr lang="en-US"/>
              <a:t> outside of physics?</a:t>
            </a:r>
            <a:endParaRPr lang="en-US"/>
          </a:p>
          <a:p>
            <a:endParaRPr lang="en-US"/>
          </a:p>
          <a:p>
            <a:r>
              <a:rPr lang="en-US">
                <a:solidFill>
                  <a:srgbClr val="7030A0"/>
                </a:solidFill>
              </a:rPr>
              <a:t>Motto: “U</a:t>
            </a:r>
            <a:r>
              <a:rPr lang="en-US" altLang="en-US">
                <a:solidFill>
                  <a:srgbClr val="7030A0"/>
                </a:solidFill>
              </a:rPr>
              <a:t>se models as instruments for intuition rather than as axiomatic certificates of truth”</a:t>
            </a:r>
            <a:endParaRPr lang="en-US" altLang="en-US">
              <a:solidFill>
                <a:srgbClr val="7030A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/>
              <a:t>Guess: How is the shape of distribution of wealth be like?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Wealth Distribution: Why This Shape?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6595" y="1313815"/>
            <a:ext cx="5857875" cy="47593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029450" y="178117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- Skewed to the left</a:t>
            </a:r>
            <a:endParaRPr lang="en-US"/>
          </a:p>
          <a:p>
            <a:r>
              <a:rPr lang="en-US"/>
              <a:t>- More extreme cases on both tails (billionaires&amp; poverty) </a:t>
            </a: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sz="2800"/>
              <a:t>Brownian Motion generates Gaussian Distribution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08045" y="1406580"/>
            <a:ext cx="10969200" cy="4759200"/>
          </a:xfrm>
        </p:spPr>
        <p:txBody>
          <a:bodyPr/>
          <a:p>
            <a:r>
              <a:rPr lang="en-US" altLang="en-US"/>
              <a:t>Additive Random Processes</a:t>
            </a:r>
            <a:endParaRPr lang="en-US" altLang="en-US"/>
          </a:p>
          <a:p>
            <a:r>
              <a:rPr lang="en-US" altLang="en-US"/>
              <a:t>W(t+1)=W(t)+ξ(t)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Picture 3" descr="CleanShot 2026-02-10 at 14.12.23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5" y="3749675"/>
            <a:ext cx="4076700" cy="990600"/>
          </a:xfrm>
          <a:prstGeom prst="rect">
            <a:avLst/>
          </a:prstGeom>
        </p:spPr>
      </p:pic>
      <p:pic>
        <p:nvPicPr>
          <p:cNvPr id="5" name="Picture 4" descr="CleanShot 2026-02-10 at 14.12.53@2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40" y="2580005"/>
            <a:ext cx="4208780" cy="897890"/>
          </a:xfrm>
          <a:prstGeom prst="rect">
            <a:avLst/>
          </a:prstGeom>
        </p:spPr>
      </p:pic>
      <p:pic>
        <p:nvPicPr>
          <p:cNvPr id="6" name="Picture 5" descr="CleanShot 2026-02-10 at 14.13.24@2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990" y="2651760"/>
            <a:ext cx="2722880" cy="935355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5670550" y="2960370"/>
            <a:ext cx="1151255" cy="2590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267325" y="4155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, which is normal distribution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078865" y="5459730"/>
            <a:ext cx="6207760" cy="706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solidFill>
                  <a:srgbClr val="FF0000"/>
                </a:solidFill>
              </a:rPr>
              <a:t>Additive Random Process FAILS! </a:t>
            </a:r>
            <a:endParaRPr lang="en-US" altLang="en-US" sz="2800">
              <a:solidFill>
                <a:srgbClr val="FF0000"/>
              </a:solidFill>
            </a:endParaRPr>
          </a:p>
        </p:txBody>
      </p:sp>
      <p:pic>
        <p:nvPicPr>
          <p:cNvPr id="10" name="Picture 9" descr="CleanShot 2026-02-10 at 16.03.04@2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3940" y="2008505"/>
            <a:ext cx="2209800" cy="57150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142355" y="15716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Assume that Initial function is Delta function: </a:t>
            </a:r>
            <a:endParaRPr lang="en-US"/>
          </a:p>
        </p:txBody>
      </p: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en-US" sz="2400"/>
              <a:t>Multiplicative Random Processes and Log-Normal Distributions</a:t>
            </a:r>
            <a:endParaRPr lang="en-US" alt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a multiplicative stochastic process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 descr="CleanShot 2026-02-10 at 14.16.25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2054225"/>
            <a:ext cx="2857500" cy="609600"/>
          </a:xfrm>
          <a:prstGeom prst="rect">
            <a:avLst/>
          </a:prstGeom>
        </p:spPr>
      </p:pic>
      <p:pic>
        <p:nvPicPr>
          <p:cNvPr id="5" name="Picture 4" descr="CleanShot 2026-02-10 at 14.16.39@2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" y="2845435"/>
            <a:ext cx="4133215" cy="680085"/>
          </a:xfrm>
          <a:prstGeom prst="rect">
            <a:avLst/>
          </a:prstGeom>
        </p:spPr>
      </p:pic>
      <p:pic>
        <p:nvPicPr>
          <p:cNvPr id="6" name="Picture 5" descr="CleanShot 2026-02-10 at 14.18.12@2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50" y="3769995"/>
            <a:ext cx="4613275" cy="931545"/>
          </a:xfrm>
          <a:prstGeom prst="rect">
            <a:avLst/>
          </a:prstGeom>
        </p:spPr>
      </p:pic>
      <p:pic>
        <p:nvPicPr>
          <p:cNvPr id="8" name="Picture 7" descr="CleanShot 2026-02-10 at 14.19.58@2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0075" y="1163320"/>
            <a:ext cx="5784850" cy="538861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420370" y="5312410"/>
            <a:ext cx="51142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rgbClr val="FF0000"/>
                </a:solidFill>
              </a:rPr>
              <a:t>Log-normal is better than Gaussian, but it is still not enough, for it’s unsatisfactory behavioral at both tails and 0. 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Include Boundary Conditions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Lower bounds: wealth cannot fall below zero.</a:t>
            </a:r>
            <a:endParaRPr lang="en-US" altLang="en-US"/>
          </a:p>
          <a:p>
            <a:r>
              <a:rPr lang="en-US" altLang="en-US"/>
              <a:t>Additive income: wages, subsidies, or transfers.</a:t>
            </a:r>
            <a:endParaRPr lang="en-US" altLang="en-US"/>
          </a:p>
          <a:p>
            <a:r>
              <a:rPr lang="en-US" altLang="en-US"/>
              <a:t>Random resets or shocks.</a:t>
            </a:r>
            <a:endParaRPr lang="en-US" altLang="en-US"/>
          </a:p>
          <a:p>
            <a:r>
              <a:rPr lang="en-US" altLang="en-US"/>
              <a:t>Dissipation mechanisms, such as taxation or consumption.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 descr="CleanShot 2026-02-10 at 14.40.07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4487545"/>
            <a:ext cx="5874385" cy="11684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91540" y="3996690"/>
            <a:ext cx="5043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That’s why we introduce Kesten Process: 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210425" y="344297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An addictive term       prevent wealth from dropping to zero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2. </a:t>
            </a:r>
            <a:r>
              <a:rPr lang="en-US" altLang="en-US"/>
              <a:t>the stationary distribution of </a:t>
            </a:r>
            <a:endParaRPr lang="en-US" altLang="en-US"/>
          </a:p>
          <a:p>
            <a:r>
              <a:rPr lang="zh-CN" altLang="en-US"/>
              <a:t>𝑊</a:t>
            </a:r>
            <a:r>
              <a:rPr lang="en-US" altLang="zh-CN"/>
              <a:t>   </a:t>
            </a:r>
            <a:r>
              <a:rPr lang="en-US" altLang="en-US"/>
              <a:t> develops a Pareto tail (for billionaires) </a:t>
            </a:r>
            <a:endParaRPr lang="en-US" altLang="en-US"/>
          </a:p>
        </p:txBody>
      </p:sp>
      <p:sp>
        <p:nvSpPr>
          <p:cNvPr id="8" name="Right Arrow 7"/>
          <p:cNvSpPr/>
          <p:nvPr/>
        </p:nvSpPr>
        <p:spPr>
          <a:xfrm>
            <a:off x="9283700" y="3594100"/>
            <a:ext cx="345440" cy="1003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9" name="Picture 8" descr="CleanShot 2026-02-10 at 14.48.44@2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495" y="5473065"/>
            <a:ext cx="2343150" cy="6667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Other complexities provoked by policies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......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Conclusion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8670" y="1403985"/>
            <a:ext cx="5327015" cy="43281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965950" y="1585595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7030A0"/>
                </a:solidFill>
              </a:rPr>
              <a:t>Body: log-normal</a:t>
            </a:r>
            <a:endParaRPr lang="en-US">
              <a:solidFill>
                <a:srgbClr val="7030A0"/>
              </a:solidFill>
            </a:endParaRPr>
          </a:p>
          <a:p>
            <a:endParaRPr lang="en-US">
              <a:solidFill>
                <a:srgbClr val="7030A0"/>
              </a:solidFill>
            </a:endParaRPr>
          </a:p>
          <a:p>
            <a:r>
              <a:rPr lang="en-US">
                <a:solidFill>
                  <a:srgbClr val="7030A0"/>
                </a:solidFill>
              </a:rPr>
              <a:t>Right tail: Perato</a:t>
            </a:r>
            <a:endParaRPr lang="en-US">
              <a:solidFill>
                <a:srgbClr val="7030A0"/>
              </a:solidFill>
            </a:endParaRPr>
          </a:p>
          <a:p>
            <a:endParaRPr lang="en-US">
              <a:solidFill>
                <a:srgbClr val="7030A0"/>
              </a:solidFill>
            </a:endParaRPr>
          </a:p>
          <a:p>
            <a:r>
              <a:rPr lang="en-US">
                <a:solidFill>
                  <a:srgbClr val="7030A0"/>
                </a:solidFill>
              </a:rPr>
              <a:t>Left tail: Non of the distribution fits well.</a:t>
            </a:r>
            <a:endParaRPr lang="en-US">
              <a:solidFill>
                <a:srgbClr val="7030A0"/>
              </a:solidFill>
            </a:endParaRPr>
          </a:p>
          <a:p>
            <a:endParaRPr lang="en-US">
              <a:solidFill>
                <a:srgbClr val="7030A0"/>
              </a:solidFill>
            </a:endParaRPr>
          </a:p>
          <a:p>
            <a:r>
              <a:rPr lang="en-US">
                <a:solidFill>
                  <a:srgbClr val="FF0000"/>
                </a:solidFill>
              </a:rPr>
              <a:t>Why? </a:t>
            </a:r>
            <a:endParaRPr lang="en-US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leanShot 2026-02-10 at 16.38.28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130" y="376555"/>
            <a:ext cx="9006840" cy="60591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Volatility Clustering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Until now, we preassumed Markov Assumption: “The evolution of a system in the future only depends on its present state, not the past.”</a:t>
            </a:r>
            <a:endParaRPr lang="en-US"/>
          </a:p>
          <a:p>
            <a:endParaRPr lang="en-US"/>
          </a:p>
        </p:txBody>
      </p:sp>
      <p:pic>
        <p:nvPicPr>
          <p:cNvPr id="7" name="Content Placeholder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18565" y="2343785"/>
            <a:ext cx="9030335" cy="43999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Volatility Clustering: Mathematics</a:t>
            </a:r>
            <a:endParaRPr lang="en-US"/>
          </a:p>
        </p:txBody>
      </p:sp>
      <p:pic>
        <p:nvPicPr>
          <p:cNvPr id="4" name="Content Placeholder 3" descr="CleanShot 2026-02-10 at 14.55.36@2x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2300605"/>
            <a:ext cx="3143250" cy="723900"/>
          </a:xfrm>
          <a:prstGeom prst="rect">
            <a:avLst/>
          </a:prstGeom>
        </p:spPr>
      </p:pic>
      <p:pic>
        <p:nvPicPr>
          <p:cNvPr id="6" name="Picture 5" descr="CleanShot 2026-02-10 at 14.55.58@2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3666490"/>
            <a:ext cx="4610100" cy="70485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459740" y="1924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“Return” don’t have momentum: 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59740" y="3348990"/>
            <a:ext cx="646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But “the magnitude of return” (volatility) have momentum</a:t>
            </a:r>
            <a:endParaRPr lang="en-US"/>
          </a:p>
        </p:txBody>
      </p:sp>
      <p:pic>
        <p:nvPicPr>
          <p:cNvPr id="13" name="Picture 12" descr="CleanShot 2026-02-10 at 15.07.19@2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110" y="3717290"/>
            <a:ext cx="4723765" cy="887095"/>
          </a:xfrm>
          <a:prstGeom prst="rect">
            <a:avLst/>
          </a:prstGeom>
        </p:spPr>
      </p:pic>
      <p:sp>
        <p:nvSpPr>
          <p:cNvPr id="14" name="Left Arrow 13"/>
          <p:cNvSpPr/>
          <p:nvPr/>
        </p:nvSpPr>
        <p:spPr>
          <a:xfrm>
            <a:off x="5411470" y="3968115"/>
            <a:ext cx="791845" cy="38862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3842385" y="50190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Note: If X and Y are independent, </a:t>
            </a:r>
            <a:endParaRPr lang="en-US"/>
          </a:p>
        </p:txBody>
      </p:sp>
      <p:pic>
        <p:nvPicPr>
          <p:cNvPr id="17" name="Picture 16" descr="CleanShot 2026-02-10 at 15.08.58@2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2890" y="5387340"/>
            <a:ext cx="2286000" cy="6477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Why?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Volatility might have something to do with the intrisic property of the stock market: e.g. leverage</a:t>
            </a:r>
            <a:endParaRPr lang="en-US"/>
          </a:p>
          <a:p>
            <a:r>
              <a:rPr lang="en-US" altLang="zh-CN"/>
              <a:t>......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Dimensional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Tool: The Vaschy-Bukingham π-theorem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If a physical equation involves n physical variables and m non-linearly dependent fundamental units, then there exists an equivalent equation involving n − m dimensionless variables constructed from the original variables.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We will use this tool to guess the ideal market law! 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An example in physics: The ideal gas law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(p, V, T)</a:t>
            </a:r>
            <a:endParaRPr lang="en-US"/>
          </a:p>
          <a:p>
            <a:r>
              <a:rPr lang="en-US"/>
              <a:t>pV has the dimension of energy.</a:t>
            </a:r>
            <a:endParaRPr lang="en-US"/>
          </a:p>
          <a:p>
            <a:r>
              <a:rPr lang="en-US"/>
              <a:t>RT is thermal energy.</a:t>
            </a:r>
            <a:endParaRPr lang="en-US"/>
          </a:p>
          <a:p>
            <a:endParaRPr lang="en-US"/>
          </a:p>
          <a:p>
            <a:r>
              <a:rPr lang="en-US"/>
              <a:t>Therefore, </a:t>
            </a:r>
            <a:r>
              <a:rPr lang="en-US" altLang="en-US"/>
              <a:t>PV /RT = cst (or a dimensionless function)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An example in finance: The ideal market law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Assume </a:t>
            </a: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CleanShot 2026-02-10 at 15.17.39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490345"/>
            <a:ext cx="4709795" cy="1685925"/>
          </a:xfrm>
          <a:prstGeom prst="rect">
            <a:avLst/>
          </a:prstGeom>
        </p:spPr>
      </p:pic>
      <p:pic>
        <p:nvPicPr>
          <p:cNvPr id="5" name="Picture 4" descr="CleanShot 2026-02-10 at 15.18.38@2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3824605"/>
            <a:ext cx="2655570" cy="4470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375150" y="3795395"/>
            <a:ext cx="5230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How many dimensionless variables is required? </a:t>
            </a:r>
            <a:endParaRPr lang="en-US"/>
          </a:p>
        </p:txBody>
      </p:sp>
      <p:pic>
        <p:nvPicPr>
          <p:cNvPr id="8" name="Picture 7" descr="CleanShot 2026-02-10 at 15.19.03@2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260" y="4163695"/>
            <a:ext cx="2502535" cy="187706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786370" y="450088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rank = 3,</a:t>
            </a:r>
            <a:endParaRPr lang="en-US"/>
          </a:p>
          <a:p>
            <a:endParaRPr lang="en-US"/>
          </a:p>
          <a:p>
            <a:r>
              <a:rPr lang="en-US"/>
              <a:t>Therefore, 5-3=2 dimensionless variables are expected. </a:t>
            </a:r>
            <a:endParaRPr lang="en-US"/>
          </a:p>
        </p:txBody>
      </p:sp>
    </p:spTree>
    <p:custDataLst>
      <p:tags r:id="rId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An example in finance: The ideal market law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Bearing in mind that we need 2 dimensionless variables, we choose: 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“......</a:t>
            </a:r>
            <a:r>
              <a:rPr lang="en-US" altLang="en-US"/>
              <a:t>should keep p × σ constant”</a:t>
            </a:r>
            <a:endParaRPr lang="en-US" altLang="en-US"/>
          </a:p>
          <a:p>
            <a:r>
              <a:rPr lang="en-US" altLang="en-US"/>
              <a:t>This suggests that g(x) ∼x ^−1/2, finally leading to the so-called 3/2 law: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                  where we introduced the trading activity or exchanged risk W := pVσ and the trading rate N = V/Q</a:t>
            </a:r>
            <a:endParaRPr lang="en-US" altLang="en-US"/>
          </a:p>
        </p:txBody>
      </p:sp>
      <p:pic>
        <p:nvPicPr>
          <p:cNvPr id="4" name="Picture 3" descr="CleanShot 2026-02-10 at 15.23.32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2025650"/>
            <a:ext cx="3219450" cy="1143000"/>
          </a:xfrm>
          <a:prstGeom prst="rect">
            <a:avLst/>
          </a:prstGeom>
        </p:spPr>
      </p:pic>
      <p:pic>
        <p:nvPicPr>
          <p:cNvPr id="5" name="Picture 4" descr="CleanShot 2026-02-10 at 15.25.57@2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65" y="4458335"/>
            <a:ext cx="1905000" cy="7239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Bonus: log-log plot and semi-log plot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5195570" cy="4759325"/>
          </a:xfrm>
          <a:prstGeom prst="rect">
            <a:avLst/>
          </a:prstGeom>
        </p:spPr>
      </p:pic>
      <p:pic>
        <p:nvPicPr>
          <p:cNvPr id="5" name="Picture 4" descr="CleanShot 2026-02-10 at 15.35.57@2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015" y="1313815"/>
            <a:ext cx="5756910" cy="47593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References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leanShot 2026-02-10 at 16.00.47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0" y="1590675"/>
            <a:ext cx="10001250" cy="32575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Questions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>
                <a:sym typeface="+mn-ea"/>
              </a:rPr>
              <a:t>How is wealth distributed? </a:t>
            </a:r>
            <a:endParaRPr lang="en-US"/>
          </a:p>
          <a:p>
            <a:r>
              <a:rPr lang="en-US">
                <a:sym typeface="+mn-ea"/>
              </a:rPr>
              <a:t>How to </a:t>
            </a:r>
            <a:r>
              <a:rPr lang="en-US">
                <a:highlight>
                  <a:srgbClr val="FFFF00"/>
                </a:highlight>
                <a:sym typeface="+mn-ea"/>
              </a:rPr>
              <a:t>use macroscopic distributions to reveal microscopic mechanism</a:t>
            </a:r>
            <a:r>
              <a:rPr lang="en-US">
                <a:sym typeface="+mn-ea"/>
              </a:rPr>
              <a:t>?</a:t>
            </a:r>
            <a:endParaRPr lang="en-US"/>
          </a:p>
          <a:p>
            <a:r>
              <a:rPr lang="en-US">
                <a:sym typeface="+mn-ea"/>
              </a:rPr>
              <a:t>Why is the </a:t>
            </a:r>
            <a:r>
              <a:rPr lang="en-US">
                <a:highlight>
                  <a:srgbClr val="FFFF00"/>
                </a:highlight>
                <a:sym typeface="+mn-ea"/>
              </a:rPr>
              <a:t>Markov assumptions</a:t>
            </a:r>
            <a:r>
              <a:rPr lang="en-US">
                <a:sym typeface="+mn-ea"/>
              </a:rPr>
              <a:t> invalid in stock market?</a:t>
            </a:r>
            <a:endParaRPr lang="en-US"/>
          </a:p>
          <a:p>
            <a:r>
              <a:rPr lang="en-US">
                <a:sym typeface="+mn-ea"/>
              </a:rPr>
              <a:t>How to apply </a:t>
            </a:r>
            <a:r>
              <a:rPr lang="en-US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dimensional analysis</a:t>
            </a:r>
            <a:r>
              <a:rPr lang="en-US">
                <a:sym typeface="+mn-ea"/>
              </a:rPr>
              <a:t> outside of physics?</a:t>
            </a:r>
            <a:endParaRPr 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3211</Words>
  <Application>WPS Writer</Application>
  <PresentationFormat>宽屏</PresentationFormat>
  <Paragraphs>145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Wingdings</vt:lpstr>
      <vt:lpstr>PingFang SC Semibold</vt:lpstr>
      <vt:lpstr>苹方-简</vt:lpstr>
      <vt:lpstr>Microsoft YaHei</vt:lpstr>
      <vt:lpstr>汉仪旗黑</vt:lpstr>
      <vt:lpstr>Arial Unicode MS</vt:lpstr>
      <vt:lpstr>汉仪书宋二KW</vt:lpstr>
      <vt:lpstr>BatangChe</vt:lpstr>
      <vt:lpstr>Apple SD Gothic Neo</vt:lpstr>
      <vt:lpstr>DejaVuMathTeXGyre</vt:lpstr>
      <vt:lpstr>WPS</vt:lpstr>
      <vt:lpstr>Econophysics: How have tools developed by physicists revealed about Economics</vt:lpstr>
      <vt:lpstr>Questions</vt:lpstr>
      <vt:lpstr>Guess: How is the shape of distribution of wealth be like? </vt:lpstr>
      <vt:lpstr>Wealth Distribution: Why This shape? </vt:lpstr>
      <vt:lpstr>Brownian Motion generates Gaussian Distribution</vt:lpstr>
      <vt:lpstr>Multiplicative Random Processes and Log-Normal Distributions</vt:lpstr>
      <vt:lpstr>Include Boundary Conditions</vt:lpstr>
      <vt:lpstr>Other complexities provoked by policies</vt:lpstr>
      <vt:lpstr>Conclusion</vt:lpstr>
      <vt:lpstr>PowerPoint 演示文稿</vt:lpstr>
      <vt:lpstr>Volatility Clustering</vt:lpstr>
      <vt:lpstr>Volatility Clustering: Mathematics</vt:lpstr>
      <vt:lpstr>Why?</vt:lpstr>
      <vt:lpstr>Dimensional Analysis</vt:lpstr>
      <vt:lpstr>An example in physics: The ideal gas law</vt:lpstr>
      <vt:lpstr>An example in finance: The ideal market law</vt:lpstr>
      <vt:lpstr>An example in finance: The ideal market law</vt:lpstr>
      <vt:lpstr>Bonus: log-log plot and semi-log plot</vt:lpstr>
      <vt:lpstr>References</vt:lpstr>
      <vt:lpstr>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angela</cp:lastModifiedBy>
  <cp:revision>183</cp:revision>
  <dcterms:created xsi:type="dcterms:W3CDTF">2026-02-11T23:45:37Z</dcterms:created>
  <dcterms:modified xsi:type="dcterms:W3CDTF">2026-02-11T23:45:37Z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1033-12.1.23540.23540</vt:lpwstr>
  </property>
  <property fmtid="{D5CDD505-2E9C-101B-9397-08002B2CF9AE}" pid="3" name="ICV">
    <vt:lpwstr>296D38CD37F482F52D388B698B3BAEBB_41</vt:lpwstr>
  </property>
</Properties>
</file>